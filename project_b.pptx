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67" r:id="rId3"/>
    <p:sldId id="26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</p:sldIdLst>
  <p:sldSz cx="14630400" cy="8229600"/>
  <p:notesSz cx="8229600" cy="146304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олодя" initials="в" lastIdx="1" clrIdx="0">
    <p:extLst>
      <p:ext uri="{19B8F6BF-5375-455C-9EA6-DF929625EA0E}">
        <p15:presenceInfo xmlns:p15="http://schemas.microsoft.com/office/powerpoint/2012/main" userId="b8520be2f41152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6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2:18:38.604" idx="1">
    <p:pos x="8786" y="2481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86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C85FB2-58E8-4042-9C39-FC1E3EAAD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D48652-4A69-4B1C-8B13-7AE8993B88A3}"/>
              </a:ext>
            </a:extLst>
          </p:cNvPr>
          <p:cNvSpPr txBox="1"/>
          <p:nvPr/>
        </p:nvSpPr>
        <p:spPr>
          <a:xfrm>
            <a:off x="12480129" y="5644277"/>
            <a:ext cx="2843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Работу выполнили студенты:</a:t>
            </a:r>
            <a:br>
              <a:rPr lang="ru-RU" b="1" dirty="0">
                <a:solidFill>
                  <a:srgbClr val="000000"/>
                </a:solidFill>
                <a:ea typeface="Inter Bold" pitchFamily="34" charset="-122"/>
              </a:rPr>
            </a:br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Голубев Д. В.</a:t>
            </a:r>
          </a:p>
          <a:p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Салманов М. Д.</a:t>
            </a:r>
          </a:p>
          <a:p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Салтаненко А. Е.</a:t>
            </a:r>
            <a:br>
              <a:rPr lang="ru-RU" b="1" dirty="0">
                <a:solidFill>
                  <a:srgbClr val="000000"/>
                </a:solidFill>
                <a:ea typeface="Inter Bold" pitchFamily="34" charset="-122"/>
              </a:rPr>
            </a:br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Группы: </a:t>
            </a:r>
          </a:p>
          <a:p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31ИПО8381 </a:t>
            </a:r>
          </a:p>
          <a:p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Преподаватель:</a:t>
            </a:r>
          </a:p>
          <a:p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Фурмавнин С.А.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D103C-5FDA-41CF-BFFF-3F80072B62EF}"/>
              </a:ext>
            </a:extLst>
          </p:cNvPr>
          <p:cNvSpPr txBox="1"/>
          <p:nvPr/>
        </p:nvSpPr>
        <p:spPr>
          <a:xfrm>
            <a:off x="2829818" y="2643189"/>
            <a:ext cx="89707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Проект 6: Система управления библиотекой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90905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17D1E4E4-A812-4C98-BCA9-DEA9BEA067E3}"/>
              </a:ext>
            </a:extLst>
          </p:cNvPr>
          <p:cNvSpPr/>
          <p:nvPr/>
        </p:nvSpPr>
        <p:spPr>
          <a:xfrm>
            <a:off x="810650" y="1943720"/>
            <a:ext cx="10723099" cy="4631238"/>
          </a:xfrm>
          <a:prstGeom prst="roundRect">
            <a:avLst>
              <a:gd name="adj" fmla="val 688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5784E9-F36D-476A-97E4-DA9E72740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D3D544-CE6C-461A-9B03-0A2B40338696}"/>
              </a:ext>
            </a:extLst>
          </p:cNvPr>
          <p:cNvSpPr txBox="1"/>
          <p:nvPr/>
        </p:nvSpPr>
        <p:spPr>
          <a:xfrm>
            <a:off x="2665827" y="204634"/>
            <a:ext cx="8356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rgbClr val="000000"/>
                </a:solidFill>
                <a:ea typeface="Inter Bold" pitchFamily="34" charset="-122"/>
              </a:rPr>
              <a:t>Цели: 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0645AD6-9102-4999-B431-5EC5692FDDB9}"/>
              </a:ext>
            </a:extLst>
          </p:cNvPr>
          <p:cNvSpPr/>
          <p:nvPr/>
        </p:nvSpPr>
        <p:spPr>
          <a:xfrm>
            <a:off x="1945005" y="413932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4058A65F-90F4-4280-BA09-B4C0881C6394}"/>
              </a:ext>
            </a:extLst>
          </p:cNvPr>
          <p:cNvSpPr/>
          <p:nvPr/>
        </p:nvSpPr>
        <p:spPr>
          <a:xfrm>
            <a:off x="1945005" y="4464367"/>
            <a:ext cx="5125641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7B9F8-D314-48A0-A84A-58699F6DE30B}"/>
              </a:ext>
            </a:extLst>
          </p:cNvPr>
          <p:cNvSpPr txBox="1"/>
          <p:nvPr/>
        </p:nvSpPr>
        <p:spPr>
          <a:xfrm>
            <a:off x="897694" y="2047403"/>
            <a:ext cx="105578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/>
              <a:t>1)Анализа предметной области и выявления требований</a:t>
            </a:r>
          </a:p>
          <a:p>
            <a:r>
              <a:rPr lang="ru-RU" sz="3000" dirty="0"/>
              <a:t>2)Проектирования архитектуры с соблюдением принципов SOLID и современных практик C++</a:t>
            </a:r>
          </a:p>
          <a:p>
            <a:r>
              <a:rPr lang="ru-RU" sz="3000" dirty="0"/>
              <a:t>3)Реализации с использованием механизмов безопасности памяти (умные указатели, RAII)</a:t>
            </a:r>
          </a:p>
          <a:p>
            <a:r>
              <a:rPr lang="ru-RU" sz="3000" dirty="0"/>
              <a:t>4)Написания модульных тестов для проверки корректности и обработки граничных случаев</a:t>
            </a:r>
          </a:p>
          <a:p>
            <a:r>
              <a:rPr lang="ru-RU" sz="3000" dirty="0"/>
              <a:t>5)Самостоятельного выявления и разрешения конфликтов в процессе разработки</a:t>
            </a: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0A2D8476-A2BF-41CC-98CE-B355954C19F8}"/>
              </a:ext>
            </a:extLst>
          </p:cNvPr>
          <p:cNvSpPr/>
          <p:nvPr/>
        </p:nvSpPr>
        <p:spPr>
          <a:xfrm>
            <a:off x="810650" y="2050643"/>
            <a:ext cx="174088" cy="4524315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</p:spTree>
    <p:extLst>
      <p:ext uri="{BB962C8B-B14F-4D97-AF65-F5344CB8AC3E}">
        <p14:creationId xmlns:p14="http://schemas.microsoft.com/office/powerpoint/2010/main" val="1829031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CD9ABD-B7B8-4FC8-91D1-42124BF71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39D730-6C49-419D-87D0-85FE87CE831C}"/>
              </a:ext>
            </a:extLst>
          </p:cNvPr>
          <p:cNvSpPr txBox="1"/>
          <p:nvPr/>
        </p:nvSpPr>
        <p:spPr>
          <a:xfrm>
            <a:off x="3439551" y="624226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rgbClr val="000000"/>
                </a:solidFill>
                <a:ea typeface="Inter Bold" pitchFamily="34" charset="-122"/>
              </a:rPr>
              <a:t>Задачи</a:t>
            </a:r>
            <a:r>
              <a:rPr lang="en-US" sz="5400" b="1" dirty="0">
                <a:solidFill>
                  <a:srgbClr val="000000"/>
                </a:solidFill>
                <a:ea typeface="Inter Bold" pitchFamily="34" charset="-122"/>
              </a:rPr>
              <a:t>:</a:t>
            </a:r>
            <a:endParaRPr lang="ru-RU" sz="5400" b="1" dirty="0">
              <a:solidFill>
                <a:srgbClr val="000000"/>
              </a:solidFill>
              <a:ea typeface="Inter Bold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43F958-677D-4690-AED4-74529020218C}"/>
              </a:ext>
            </a:extLst>
          </p:cNvPr>
          <p:cNvSpPr/>
          <p:nvPr/>
        </p:nvSpPr>
        <p:spPr>
          <a:xfrm>
            <a:off x="541606" y="1955408"/>
            <a:ext cx="10213145" cy="4223549"/>
          </a:xfrm>
          <a:prstGeom prst="roundRect">
            <a:avLst>
              <a:gd name="adj" fmla="val 688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9840C01-3DD4-4BA9-A4FC-2C02548EE59C}"/>
              </a:ext>
            </a:extLst>
          </p:cNvPr>
          <p:cNvSpPr/>
          <p:nvPr/>
        </p:nvSpPr>
        <p:spPr>
          <a:xfrm>
            <a:off x="1755091" y="4057372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468B515-70BB-4068-95DF-058A2C65DEE2}"/>
              </a:ext>
            </a:extLst>
          </p:cNvPr>
          <p:cNvSpPr/>
          <p:nvPr/>
        </p:nvSpPr>
        <p:spPr>
          <a:xfrm>
            <a:off x="1755091" y="4382412"/>
            <a:ext cx="5125641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20A37-4D27-449E-91ED-4EE7EC651DBE}"/>
              </a:ext>
            </a:extLst>
          </p:cNvPr>
          <p:cNvSpPr txBox="1"/>
          <p:nvPr/>
        </p:nvSpPr>
        <p:spPr>
          <a:xfrm>
            <a:off x="703384" y="2050643"/>
            <a:ext cx="102553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1</a:t>
            </a:r>
            <a:r>
              <a:rPr lang="en-US" sz="3200" dirty="0"/>
              <a:t>. </a:t>
            </a:r>
            <a:r>
              <a:rPr lang="ru-RU" sz="3200" dirty="0"/>
              <a:t>Проектирование классов: Книга, Читатель, Выдача, Резерв	</a:t>
            </a:r>
            <a:endParaRPr lang="en-US" sz="3200" dirty="0"/>
          </a:p>
          <a:p>
            <a:r>
              <a:rPr lang="ru-RU" sz="3200" dirty="0"/>
              <a:t>2</a:t>
            </a:r>
            <a:r>
              <a:rPr lang="en-US" sz="3200" dirty="0"/>
              <a:t>. </a:t>
            </a:r>
            <a:r>
              <a:rPr lang="ru-RU" sz="3200" dirty="0"/>
              <a:t>Реализация каталога книг и поиска	</a:t>
            </a:r>
            <a:endParaRPr lang="en-US" sz="3200" dirty="0"/>
          </a:p>
          <a:p>
            <a:r>
              <a:rPr lang="ru-RU" sz="3200" dirty="0"/>
              <a:t>3</a:t>
            </a:r>
            <a:r>
              <a:rPr lang="en-US" sz="3200" dirty="0"/>
              <a:t>. </a:t>
            </a:r>
            <a:r>
              <a:rPr lang="ru-RU" sz="3200" dirty="0"/>
              <a:t>Механизм выдачи и возврата книг	</a:t>
            </a:r>
            <a:endParaRPr lang="en-US" sz="3200" dirty="0"/>
          </a:p>
          <a:p>
            <a:r>
              <a:rPr lang="ru-RU" sz="3200" dirty="0"/>
              <a:t>4</a:t>
            </a:r>
            <a:r>
              <a:rPr lang="en-US" sz="3200" dirty="0"/>
              <a:t>. </a:t>
            </a:r>
            <a:r>
              <a:rPr lang="ru-RU" sz="3200" dirty="0"/>
              <a:t>Система резервирования	</a:t>
            </a:r>
            <a:endParaRPr lang="en-US" sz="3200" dirty="0"/>
          </a:p>
          <a:p>
            <a:r>
              <a:rPr lang="ru-RU" sz="3200" dirty="0"/>
              <a:t>5</a:t>
            </a:r>
            <a:r>
              <a:rPr lang="en-US" sz="3200" dirty="0"/>
              <a:t>. </a:t>
            </a:r>
            <a:r>
              <a:rPr lang="ru-RU" sz="3200" dirty="0"/>
              <a:t>Расчет штрафов и управление долгами		</a:t>
            </a:r>
            <a:endParaRPr lang="en-US" sz="3200" dirty="0"/>
          </a:p>
          <a:p>
            <a:r>
              <a:rPr lang="en-US" sz="3200" dirty="0"/>
              <a:t>6. </a:t>
            </a:r>
            <a:r>
              <a:rPr lang="ru-RU" sz="3200" dirty="0"/>
              <a:t>Генерация отчетов и статистики</a:t>
            </a:r>
            <a:r>
              <a:rPr lang="en-US" sz="3200" dirty="0"/>
              <a:t> </a:t>
            </a:r>
          </a:p>
          <a:p>
            <a:r>
              <a:rPr lang="en-US" sz="3200" dirty="0"/>
              <a:t>7.</a:t>
            </a:r>
            <a:r>
              <a:rPr lang="ru-RU" sz="3200" dirty="0"/>
              <a:t> Тестирование многопользовательских сценариев	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C35195E-7989-469A-89DD-3121D9309485}"/>
              </a:ext>
            </a:extLst>
          </p:cNvPr>
          <p:cNvSpPr/>
          <p:nvPr/>
        </p:nvSpPr>
        <p:spPr>
          <a:xfrm>
            <a:off x="541606" y="1962954"/>
            <a:ext cx="165295" cy="4216003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71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96372"/>
            <a:ext cx="10329267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Book.h — базовые сущности предметной области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67708" y="1191578"/>
            <a:ext cx="11249144" cy="150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Перечисление Genre (жанры книг).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Book (id, автор, название, год, жанр, число копий, доступные копии; методы hasAvailableCopy(), takeCopy(), returnCopy()).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Reader (id, ФИО, контакты, дата регистрации, сумма штрафа; методы canBorrow(), addFine(), payFine()).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Loan (id выдачи, id книги и читателя, даты выдачи/возврата/плановая, флаг возврата, штраф; методы isActive(), setFine(), markReturned()).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Reservation (id, id книги/читателя, дата создания, флаг активности; методы cancel(), complete()).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67708" y="3950291"/>
            <a:ext cx="5565934" cy="1593056"/>
          </a:xfrm>
          <a:prstGeom prst="roundRect">
            <a:avLst>
              <a:gd name="adj" fmla="val 688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7708" y="3953470"/>
            <a:ext cx="91440" cy="1593056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1945005" y="413932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45005" y="4464367"/>
            <a:ext cx="5125641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отвечает за книгу: идентификатор, автор, название, год, жанр, общее число копий и количество доступных в данный момент. Методы takeCopy() и returnCopy() инкапсулируют логику изменения доступности.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73660" y="3953470"/>
            <a:ext cx="5566053" cy="1593056"/>
          </a:xfrm>
          <a:prstGeom prst="roundRect">
            <a:avLst>
              <a:gd name="adj" fmla="val 688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0800" y="3953470"/>
            <a:ext cx="91440" cy="1593056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8096" y="413932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8096" y="4464367"/>
            <a:ext cx="512576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Reader хранит информацию о читателе, включая накопленный штраф. Метод canBorrow() проверяет, не превышает ли долг установленный лимит.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90568" y="5663684"/>
            <a:ext cx="5565934" cy="1368981"/>
          </a:xfrm>
          <a:prstGeom prst="roundRect">
            <a:avLst>
              <a:gd name="adj" fmla="val 801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7708" y="5663684"/>
            <a:ext cx="91440" cy="1368981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1945005" y="584954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45005" y="6174581"/>
            <a:ext cx="512564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 описывает выдачу книги. Он содержит даты выдачи и планового возврата, а также факт фактического возврата и сумму начисленного штрафа.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73660" y="5663684"/>
            <a:ext cx="5566053" cy="1368981"/>
          </a:xfrm>
          <a:prstGeom prst="roundRect">
            <a:avLst>
              <a:gd name="adj" fmla="val 801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50800" y="5663684"/>
            <a:ext cx="91440" cy="1368981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628096" y="584954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Reservation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8096" y="6174581"/>
            <a:ext cx="512576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фиксирует заявку читателя на книгу, которая временно отсутствует. У него есть флаг активности и методы для отмены или завершения брони.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690568" y="7164467"/>
            <a:ext cx="11249144" cy="568762"/>
          </a:xfrm>
          <a:prstGeom prst="roundRect">
            <a:avLst>
              <a:gd name="adj" fmla="val 12039"/>
            </a:avLst>
          </a:prstGeom>
          <a:solidFill>
            <a:srgbClr val="C7C9EA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565" y="7393186"/>
            <a:ext cx="203716" cy="16299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220278" y="7322344"/>
            <a:ext cx="10556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Эти классы являются фундаментом всей системы.</a:t>
            </a:r>
            <a:endParaRPr lang="en-US" sz="12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FE2D6E-266D-4DB4-9D44-634D352B0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86145"/>
            <a:ext cx="11110079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BookCatalog.h — управление каталогом книг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2228" y="1393893"/>
            <a:ext cx="13265944" cy="232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BookCatalog (работает со ссылкой на std::vector&lt;Book&gt; из LibrarySystem).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addOrMergeBook() — добавляет книгу или увеличивает число копий, если книга уже есть (по совпадению автора, названия, года, жанра).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findById() — поиск книги по идентификатору.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 поиска: searchByAuthor(), searchByTitle(), searchByGenre().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Вспомогательные функции: toLowerAscii(), contains() для регистронезависимого поиска (ASCII).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Приватные методы: findSameBook(), generateNextId().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2228" y="4947285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BookCatalog.h предоставляет удобный интерфейс для работы с коллекцией книг. Важно, что каталог не хранит книги самостоятельно, а получает ссылку на вектор из главной системы. Это исключает дублирование данных.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2228" y="5715476"/>
            <a:ext cx="13265944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Ключевая функция здесь — addOrMergeBook. Если мы пытаемся добавить книгу, которая уже существует (проверяются автор, название, год и жанр), то количество копий просто увеличивается, и возвращается существующий идентификатор. Это очень удобно при пополнении фонда.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2228" y="6773585"/>
            <a:ext cx="13265944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Реализованы также несколько вариантов поиска: по автору, по названию и по жанру. Поиск по строковым полям по умолчанию игнорирует регистр для латинских символов, что делает его более дружелюбным для пользователя. Вспомогательные функции инкапсулируют детали сравнения строк.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3D644A-0177-4CCC-B7A5-62636F0C3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8650" y="7581900"/>
            <a:ext cx="25717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786" y="649486"/>
            <a:ext cx="8271153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LibrarySystem.h — объявление ядра библиотеки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2571750" y="1285399"/>
            <a:ext cx="4676180" cy="3067169"/>
          </a:xfrm>
          <a:prstGeom prst="roundRect">
            <a:avLst>
              <a:gd name="adj" fmla="val 3162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2706410" y="1365290"/>
            <a:ext cx="1760577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Класс LibrarySystem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06410" y="1655564"/>
            <a:ext cx="4406860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Открытые поля-контейнеры: books, readers, loans, reservations, а также указатель catalog (для связи с BookCatalog).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06410" y="2070854"/>
            <a:ext cx="4406860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 для работы с каталогом и читателями: attachCatalog(), addBook(), addReader(), registerReader().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06410" y="2486144"/>
            <a:ext cx="4406860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 поиска: findBook(), findReader(), findLoan(), getNextActiveReservationForBook(), hasActiveReservationForBookExceptReader().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87126" y="1365290"/>
            <a:ext cx="2478762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бизнес-операции: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87126" y="1655564"/>
            <a:ext cx="4482108" cy="770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issueBook()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returnBook()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extendLoan()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reserveBook()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87126" y="2506147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Константы: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87126" y="2796421"/>
            <a:ext cx="4482108" cy="770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DEFAULT_LOAN_DAYS = 14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DAILY_FINE = 1.0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MAX_ALLOWED_FINE = 100.0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DAMAGED_BOOK_EXTRA_FINE = 50.0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87126" y="3647003"/>
            <a:ext cx="3300174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Приватные вспомогательные методы: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87126" y="3937278"/>
            <a:ext cx="448210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генерации ID и работы с датами: parseDate(), addDaysToDate(), calculateDaysDifference().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68786" y="4802743"/>
            <a:ext cx="929282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Заголовочный файл LibrarySystem.h описывает центральный класс всей системы. Именно здесь собраны все коллекции и объявлены методы, реализующие бизнес-логику библиотеки.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68786" y="5236012"/>
            <a:ext cx="929282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Обратите внимание на открытые векторы books, readers, loans, reservations — такой подход упрощает доступ к данным из других компонентов (например, из FineSystem или ReportSystem). Связь с каталогом осуществляется через указатель catalog.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68786" y="5669280"/>
            <a:ext cx="929282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Среди методов особенно важны:</a:t>
            </a:r>
            <a:endParaRPr lang="en-US" sz="10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9268" y="5934968"/>
            <a:ext cx="201930" cy="2019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106460" y="5930860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issueBook()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106460" y="6189107"/>
            <a:ext cx="4158734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Выдача книги с проверкой всех условий (наличие свободного экземпляра, долг читателя, чужие резервации).</a:t>
            </a:r>
            <a:endParaRPr lang="en-US" sz="10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5570" y="5934968"/>
            <a:ext cx="201930" cy="20193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802761" y="5930860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returnBook()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802761" y="6189107"/>
            <a:ext cx="4158853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Возврат книги, расчёт дней просрочки и начисление штрафа.</a:t>
            </a:r>
            <a:endParaRPr lang="en-US" sz="10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9268" y="6696492"/>
            <a:ext cx="201930" cy="20193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106460" y="6692384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extendLoan()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106460" y="6950631"/>
            <a:ext cx="4158734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Продление срока выдачи (только если нет чужих резерваций).</a:t>
            </a:r>
            <a:endParaRPr lang="en-US" sz="10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5570" y="6696492"/>
            <a:ext cx="201930" cy="2019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02761" y="6692384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reserveBook()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802761" y="6950631"/>
            <a:ext cx="4158853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брони на отсутствующую книгу.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2668786" y="7383899"/>
            <a:ext cx="929282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Константы задают базовые параметры работы: срок выдачи по умолчанию, размер ежедневного штрафа, максимально допустимый долг для возможности выдачи, дополнительный штраф за повреждённую книгу.</a:t>
            </a:r>
            <a:endParaRPr lang="en-US" sz="10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15B629-D833-4B9D-9BE1-8FFE95043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5819" y="7689483"/>
            <a:ext cx="2144581" cy="540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4540" y="684352"/>
            <a:ext cx="979312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LibrarySystem.cpp — реализация ядра библиотеки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57400" y="1404818"/>
            <a:ext cx="10515600" cy="2049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Реализация всех методов, объявленных в LibrarySystem.h.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генерации уникальных идентификаторов (generateNextReaderId, generateNextLoanId, generateNextReservationId).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Реализация работы с датами: parseDate() (разбор строки YYYY-MM-DD), addDaysToDate() (прибавление дней к дате), calculateDaysDifference() (разница в днях между двумя датами).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Проверки при выдаче: наличие книги и читателя, доступность копии, долг, чужие резервации.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возврате: вычисление просрочки, начисление штрафа (включая штраф за повреждение), обновление доступности книги, отметка о возврате.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продлении: проверка возможности (отсутствие чужих резерваций) и изменение даты возврата.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резервировании: проверка, что книга действительно недоступна, и что у читателя нет активной брони на эту же книгу.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3999667"/>
            <a:ext cx="1051560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LibrarySystem.cpp содержит всю «тяжёлую» логику библиотеки. Здесь прописаны проверки, расчёты и обновления состояний.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4318635"/>
            <a:ext cx="1051560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Особого внимания заслуживает реализация работы с датами. Функции parseDate, addDaysToDate и calculateDaysDifference используют стандартные средства C++ (std::tm, std::mktime, std::get_time). Это позволяет корректно вычислять дату возврата и определять количество дней просрочки.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5045273"/>
            <a:ext cx="3436858" cy="2688431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4540" y="5045273"/>
            <a:ext cx="91440" cy="2688431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2301240" y="5220533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issueBook()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01240" y="5520095"/>
            <a:ext cx="3017758" cy="163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методе issueBook() последовательно проверяются: существование книги и читателя, допустимый уровень долга, наличие доступного экземпляра, наличие чужих активных резерваций. Если все условия выполнены — уменьшается счётчик доступных копий и создаётся запись Loan.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96652" y="5045273"/>
            <a:ext cx="3436977" cy="2688431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3792" y="5045273"/>
            <a:ext cx="91440" cy="2688431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5840492" y="5220533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returnBook()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40492" y="5520095"/>
            <a:ext cx="3017877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returnBook() вычисляет дни просрочки (если дата возврата позже плановой), начисляет штраф за каждый день, а также возможный дополнительный штраф за повреждение. Штраф добавляется в поле totalFine читателя. После этого количество доступных копий увеличивается, а выдача помечается как возвращённая.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6023" y="5045273"/>
            <a:ext cx="3436858" cy="2688431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13163" y="5045273"/>
            <a:ext cx="91440" cy="2688431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379863" y="5220533"/>
            <a:ext cx="277629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extendLoan() и reserveBook()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9863" y="5520095"/>
            <a:ext cx="3017758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Реализация методов extendLoan() и reserveBook() также строго соответствует бизнес-правилам, описанным ранее.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C74B10-271C-45D1-A52E-648D333A9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400" y="7733704"/>
            <a:ext cx="1969000" cy="495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8493" y="707451"/>
            <a:ext cx="10271046" cy="93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ReservationSystem.h и ReservationSystem.cpp — управление бронированиями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179677" y="1848088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ReservationSystem (принимает ссылку на LibrarySystem).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179677" y="2155150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 получения резерваций: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79677" y="2462213"/>
            <a:ext cx="5086707" cy="801172"/>
          </a:xfrm>
          <a:prstGeom prst="roundRect">
            <a:avLst>
              <a:gd name="adj" fmla="val 78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6125" y="2618661"/>
            <a:ext cx="187071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getAllReservations()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336125" y="2909768"/>
            <a:ext cx="477381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записи.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4016" y="2462213"/>
            <a:ext cx="5086707" cy="801172"/>
          </a:xfrm>
          <a:prstGeom prst="roundRect">
            <a:avLst>
              <a:gd name="adj" fmla="val 78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0464" y="2618661"/>
            <a:ext cx="221253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getActiveReservations()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20464" y="2909768"/>
            <a:ext cx="477381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Только активные.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79677" y="3361015"/>
            <a:ext cx="5086707" cy="801172"/>
          </a:xfrm>
          <a:prstGeom prst="roundRect">
            <a:avLst>
              <a:gd name="adj" fmla="val 78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6125" y="3517463"/>
            <a:ext cx="232600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getReservationsByBook()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336125" y="3808571"/>
            <a:ext cx="477381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конкретной книги (опционально — только активные).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4016" y="3361015"/>
            <a:ext cx="5086707" cy="801172"/>
          </a:xfrm>
          <a:prstGeom prst="roundRect">
            <a:avLst>
              <a:gd name="adj" fmla="val 78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0464" y="3517463"/>
            <a:ext cx="251114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getReservationsByReader()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520464" y="3808571"/>
            <a:ext cx="477381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конкретного читателя (опционально — только активные).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79677" y="4272082"/>
            <a:ext cx="10271046" cy="42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countActiveForBook() — количество активных броней на книгу.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cancelReservation() — отмена брони по идентификатору (с проверками).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79677" y="5226010"/>
            <a:ext cx="1027104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работы с очередью бронирований выделен отдельный класс ReservationSystem. Он не хранит собственных данных, а предоставляет удобные методы для фильтрации и управления записями, которые находятся в векторе reservations объекта LibrarySystem.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79677" y="5730240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помощью этого класса можно: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79677" y="6037302"/>
            <a:ext cx="10271046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Получить все активные брони для отображения списка ожидания.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Узнать, сколько читателей ожидают конкретную книгу (countActiveForBook).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Найти все бронирования, сделанные определённым читателем.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Отменить бронь (например, если читатель передумал или взял книгу в другом месте).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79677" y="7038380"/>
            <a:ext cx="10271046" cy="691396"/>
          </a:xfrm>
          <a:prstGeom prst="roundRect">
            <a:avLst>
              <a:gd name="adj" fmla="val 9042"/>
            </a:avLst>
          </a:prstGeom>
          <a:solidFill>
            <a:srgbClr val="B6D6FC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505" y="7238881"/>
            <a:ext cx="185976" cy="1488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663309" y="7173158"/>
            <a:ext cx="963858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cancelReservation() проверяет существование брони и то, что она ещё активна, после чего вызывает reservation.cancel(). Это пример того, как высокоуровневый сервис упрощает работу с базовыми сущностями.</a:t>
            </a:r>
            <a:endParaRPr lang="en-US" sz="11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30E83AF-6184-4B3D-A646-03AAE4EFE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9472" y="637163"/>
            <a:ext cx="9781937" cy="886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FineSystem.h и FineSystem.cpp — учёт штрафов и задолженностей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2424232" y="1781175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FineSystem (ссылка на LibrarySystem).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24232" y="2065139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4232" y="2349103"/>
            <a:ext cx="4846677" cy="1329214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9472" y="2364343"/>
            <a:ext cx="4816197" cy="425291"/>
          </a:xfrm>
          <a:prstGeom prst="roundRect">
            <a:avLst>
              <a:gd name="adj" fmla="val 9700"/>
            </a:avLst>
          </a:prstGeom>
          <a:solidFill>
            <a:srgbClr val="DADBF1"/>
          </a:solidFill>
          <a:ln/>
        </p:spPr>
      </p:sp>
      <p:sp>
        <p:nvSpPr>
          <p:cNvPr id="8" name="Text 6"/>
          <p:cNvSpPr/>
          <p:nvPr/>
        </p:nvSpPr>
        <p:spPr>
          <a:xfrm>
            <a:off x="2581156" y="2878217"/>
            <a:ext cx="21807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getReaderDebt(readerId)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81156" y="3152775"/>
            <a:ext cx="4532828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Сумма долга конкретного читателя.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59491" y="2349103"/>
            <a:ext cx="4846677" cy="1329214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4731" y="2364343"/>
            <a:ext cx="4816197" cy="425291"/>
          </a:xfrm>
          <a:prstGeom prst="roundRect">
            <a:avLst>
              <a:gd name="adj" fmla="val 9700"/>
            </a:avLst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7516416" y="2878217"/>
            <a:ext cx="1837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getDebtors(minDebt)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16416" y="3152775"/>
            <a:ext cx="4532828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читателей с долгом не менее указанного (по умолчанию &gt; 0).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4232" y="3766899"/>
            <a:ext cx="4846677" cy="1144905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9472" y="3782139"/>
            <a:ext cx="4816197" cy="425291"/>
          </a:xfrm>
          <a:prstGeom prst="roundRect">
            <a:avLst>
              <a:gd name="adj" fmla="val 9700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2581156" y="429601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getTotalDebt()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81156" y="4570571"/>
            <a:ext cx="4532828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Общая сумма задолженности всех читателей.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59491" y="3766899"/>
            <a:ext cx="4846677" cy="1144905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4731" y="3782139"/>
            <a:ext cx="4816197" cy="425291"/>
          </a:xfrm>
          <a:prstGeom prst="roundRect">
            <a:avLst>
              <a:gd name="adj" fmla="val 9700"/>
            </a:avLst>
          </a:prstGeom>
          <a:solidFill>
            <a:srgbClr val="DADBF1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416" y="4296013"/>
            <a:ext cx="28763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payDebt(readerId, amount, error)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16416" y="4570571"/>
            <a:ext cx="4532828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Погашение части или всей задолженности.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4232" y="5399008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Финансовый учёт вынесен в класс FineSystem. Он оперирует данными о штрафах, которые хранятся в объектах Reader.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4232" y="5682972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Функциональность интуитивно понятна: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4232" y="5966936"/>
            <a:ext cx="9781937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getReaderDebt возвращает текущий долг читателя.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getDebtors формирует список должников, отсортированный по убыванию суммы долга. Это удобно для контроля и напоминаний.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getTotalDebt показывает общую картину задолженности по библиотеке — полезно для отчётности.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payDebt позволяет зарегистрировать частичную или полную оплату долга, уменьшая поле totalFine у читателя. При этом сумма не может стать отрицательной.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4232" y="7081004"/>
            <a:ext cx="9781937" cy="643057"/>
          </a:xfrm>
          <a:prstGeom prst="roundRect">
            <a:avLst>
              <a:gd name="adj" fmla="val 9259"/>
            </a:avLst>
          </a:prstGeom>
          <a:solidFill>
            <a:srgbClr val="C7C9EA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916" y="7278767"/>
            <a:ext cx="177165" cy="1416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884765" y="7204948"/>
            <a:ext cx="9179719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Обратите внимание, что сам расчёт штрафа происходит в LibrarySystem::returnBook, а FineSystem только предоставляет интерфейс для мониторинга и погашения.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ACDF611-D9E1-4B55-A980-3FED4B029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3173" y="721162"/>
            <a:ext cx="11249144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ReportSystem.h и ReportSystem.cpp — формирование отчётов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73173" y="2024539"/>
            <a:ext cx="5660469" cy="2092523"/>
          </a:xfrm>
          <a:prstGeom prst="roundRect">
            <a:avLst>
              <a:gd name="adj" fmla="val 5610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736169" y="2141696"/>
            <a:ext cx="2075259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Структуры отчётов: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6169" y="2513648"/>
            <a:ext cx="533447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BookPopularityReportItem (id книги, название, автор, число выдач, активные выдачи).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DebtorReportItem (id читателя, ФИО, контакты, сумма долга).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TurnoverReport (общее число выдач, активные/возвращённые, уникальные книги/читатели, общая сумма собранных штрафов).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21535" y="2141696"/>
            <a:ext cx="5425678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Класс ReportSystem (константная ссылка на LibrarySystem).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1535" y="2768441"/>
            <a:ext cx="542567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21535" y="3097887"/>
            <a:ext cx="5425678" cy="978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getPopularBooks(limit) — список самых выдаваемых книг.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getDebtors(minDebt) — список должников (аналогично FineSystem, но в виде структуры отчёта).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getTurnoverReport() — сводная статистика по выдачам.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0568" y="5303282"/>
            <a:ext cx="366712" cy="36671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4438" y="535924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getPopularBooks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74438" y="5684282"/>
            <a:ext cx="3168134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getPopularBooks подсчитывает, сколько раз каждая книга была выдана (на основе вектора loans), и возвращает отсортированный список. Учитываются также текущие активные выдачи.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9019" y="5303282"/>
            <a:ext cx="366712" cy="36671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2889" y="535924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getDebtors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72889" y="5684282"/>
            <a:ext cx="3168253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getDebtors дублирует функциональность FineSystem, но возвращает данные в формате, удобном для вывода в отчёт (структура DebtorReportItem).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87589" y="5303282"/>
            <a:ext cx="366712" cy="36671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1459" y="535924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getTurnoverReport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71459" y="5684282"/>
            <a:ext cx="3168253" cy="201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Самый информативный метод — getTurnoverReport. Он собирает общую статистику: сколько всего выдач было совершено, сколько из них активны сейчас, сколько книг и читателей были задействованы, и какова общая сумма начисленных штрафов. Эти данные полезны для оценки работы библиотеки за период.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59C550-6012-4E1C-9A68-965DEA78A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735184"/>
            <a:ext cx="124719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main.cpp — консольное приложение и демонстрация взаимодействия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079183" y="2258735"/>
            <a:ext cx="12471916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Функции для работы с CSV: loadBooksFromCsv(), saveBooksToCsv().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Вспомогательные функции: genreToString(), genreFromString(), printBook(), askGenre().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Интерактивные функции для каждого пункта меню (добавление книги, регистрация читателя, выдача, возврат и т.д.).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Главный цикл main(): инициализация компонентов, загрузка данных, вывод меню, обработка команд, сохранение данных при выходе.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9183" y="6727508"/>
            <a:ext cx="12471916" cy="928568"/>
          </a:xfrm>
          <a:prstGeom prst="roundRect">
            <a:avLst>
              <a:gd name="adj" fmla="val 8176"/>
            </a:avLst>
          </a:prstGeom>
          <a:solidFill>
            <a:srgbClr val="B6FCB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19" y="6985635"/>
            <a:ext cx="225862" cy="1807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6518" y="6916579"/>
            <a:ext cx="11703844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завершении работы (команда 0) текущее состояние книг (с обновлённым количеством доступных копий) сохраняется обратно в CSV-файл. Таким образом, изменения, сделанные в ходе сеанса, не теряются.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6806B-78F3-4639-8DD5-9EE324213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28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simple_test.cpp —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модульное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тестирование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94905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183493"/>
            <a:ext cx="28373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Тестовый сценарий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67391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 тестовый сценарий, который можно запустить многократно.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94905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183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Базовый сценарий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67391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базовый сценарий: добавление книги, регистрация читателя, выдача, возврат.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94905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183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Макрос check()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67391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 макрос check() для вывода сообщений об ошибках и остановки выполнения.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337215"/>
            <a:ext cx="5064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31706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68F007-FACF-4974-A603-3AEF3E0C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1022372"/>
            <a:ext cx="12227362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base.csv — формат хранения данных о </a:t>
            </a:r>
            <a:r>
              <a:rPr lang="en-US" sz="3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книгах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201460" y="224087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CSV-файл со следующими столбцами: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01460" y="2649022"/>
            <a:ext cx="12227362" cy="3537585"/>
          </a:xfrm>
          <a:prstGeom prst="roundRect">
            <a:avLst>
              <a:gd name="adj" fmla="val 210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6364" y="2747248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book_id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43174" y="2747248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Уникальный идентификатор.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6364" y="3188494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43174" y="3188494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86364" y="3629739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43174" y="3629739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86364" y="4070985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43174" y="4070985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 издания.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86364" y="4512231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43174" y="4512231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Жанр (строка, преобразуется в Genre).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86364" y="4953476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43174" y="4953476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 (не используется в текущей модели, всегда 0.00).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86364" y="5394722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total_copies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43174" y="5394722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Общее количество экземпляров.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86364" y="5835967"/>
            <a:ext cx="269486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available_copies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43174" y="5835967"/>
            <a:ext cx="88008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Количество доступных экземпляров.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01460" y="6394252"/>
            <a:ext cx="39556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1460" y="6878717"/>
            <a:ext cx="12227362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E0333E-ADF2-4BE9-AC3B-10277B729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CB9B60-2F73-4A0B-BBCF-58BD52B75DD9}"/>
              </a:ext>
            </a:extLst>
          </p:cNvPr>
          <p:cNvSpPr/>
          <p:nvPr/>
        </p:nvSpPr>
        <p:spPr>
          <a:xfrm>
            <a:off x="4894228" y="509122"/>
            <a:ext cx="3887418" cy="69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ru-RU" sz="5400" b="1" dirty="0">
                <a:solidFill>
                  <a:srgbClr val="000000"/>
                </a:solidFill>
                <a:ea typeface="Inter Bold" pitchFamily="34" charset="-122"/>
              </a:rPr>
              <a:t>Заключение</a:t>
            </a:r>
            <a:r>
              <a:rPr lang="ru-RU" sz="3450" b="1" dirty="0">
                <a:solidFill>
                  <a:srgbClr val="000000"/>
                </a:solidFill>
                <a:ea typeface="Inter Bold" pitchFamily="34" charset="-122"/>
              </a:rPr>
              <a:t> </a:t>
            </a:r>
            <a:endParaRPr lang="en-US" sz="34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3BC6ED-CBF5-4E9C-9BEB-26E045511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208" y="7775920"/>
            <a:ext cx="1652374" cy="416154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9899C1D3-0CF2-4131-87D4-9801A68E5CC1}"/>
              </a:ext>
            </a:extLst>
          </p:cNvPr>
          <p:cNvSpPr/>
          <p:nvPr/>
        </p:nvSpPr>
        <p:spPr>
          <a:xfrm>
            <a:off x="4849984" y="5532029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3446577-DA12-4D63-9A38-F21D6024FE33}"/>
              </a:ext>
            </a:extLst>
          </p:cNvPr>
          <p:cNvSpPr/>
          <p:nvPr/>
        </p:nvSpPr>
        <p:spPr>
          <a:xfrm>
            <a:off x="4849984" y="5857069"/>
            <a:ext cx="5125641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EF4F00-8E2D-434A-8D5D-CFCF7A36A426}"/>
              </a:ext>
            </a:extLst>
          </p:cNvPr>
          <p:cNvSpPr txBox="1"/>
          <p:nvPr/>
        </p:nvSpPr>
        <p:spPr>
          <a:xfrm>
            <a:off x="1669073" y="1319686"/>
            <a:ext cx="1055780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i="0" dirty="0">
                <a:effectLst/>
              </a:rPr>
              <a:t>В результате работы спроектирована и реализована консольная библиотечная система на C++. Проведён анализ предметной области, выявлены ключевые сущности: выдача на 14 дней, ежедневный штраф, лимит долга, запрет выдачи при чужих резервациях</a:t>
            </a:r>
            <a:r>
              <a:rPr lang="en-US" sz="3200" i="0" dirty="0">
                <a:effectLst/>
              </a:rPr>
              <a:t>.</a:t>
            </a:r>
            <a:r>
              <a:rPr lang="ru-RU" sz="3200" i="0" dirty="0">
                <a:effectLst/>
              </a:rPr>
              <a:t>Итоговая система полностью работ</a:t>
            </a:r>
            <a:r>
              <a:rPr lang="ru-RU" sz="3200" dirty="0"/>
              <a:t>ает</a:t>
            </a:r>
            <a:r>
              <a:rPr lang="ru-RU" sz="3200" i="0" dirty="0">
                <a:effectLst/>
              </a:rPr>
              <a:t>, включает консольный интерфейс, загрузку/сохранение CSV, отчёты и управление штрафами.</a:t>
            </a:r>
            <a:endParaRPr lang="ru-RU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FDA5FE5-FD25-4EE2-A7BD-B0D7F9B062EE}"/>
              </a:ext>
            </a:extLst>
          </p:cNvPr>
          <p:cNvSpPr/>
          <p:nvPr/>
        </p:nvSpPr>
        <p:spPr>
          <a:xfrm>
            <a:off x="1578707" y="1332754"/>
            <a:ext cx="156307" cy="3708169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</p:spTree>
    <p:extLst>
      <p:ext uri="{BB962C8B-B14F-4D97-AF65-F5344CB8AC3E}">
        <p14:creationId xmlns:p14="http://schemas.microsoft.com/office/powerpoint/2010/main" val="1871629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2022</Words>
  <Application>Microsoft Office PowerPoint</Application>
  <PresentationFormat>Custom</PresentationFormat>
  <Paragraphs>188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володя никитин</dc:creator>
  <cp:lastModifiedBy>володя</cp:lastModifiedBy>
  <cp:revision>8</cp:revision>
  <dcterms:created xsi:type="dcterms:W3CDTF">2026-04-16T18:03:03Z</dcterms:created>
  <dcterms:modified xsi:type="dcterms:W3CDTF">2026-04-16T19:27:51Z</dcterms:modified>
</cp:coreProperties>
</file>